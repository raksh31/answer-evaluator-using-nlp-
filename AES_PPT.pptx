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5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7" r:id="rId17"/>
    <p:sldId id="271" r:id="rId18"/>
    <p:sldId id="276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Arial Rounded MT Bold" panose="020F0704030504030204" pitchFamily="3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FDyGgmbSXtHPxQabsInOr5S9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82954-5174-4F31-A0F9-3197DDE5C557}">
  <a:tblStyle styleId="{0A282954-5174-4F31-A0F9-3197DDE5C5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3072" autoAdjust="0"/>
  </p:normalViewPr>
  <p:slideViewPr>
    <p:cSldViewPr snapToGrid="0">
      <p:cViewPr varScale="1">
        <p:scale>
          <a:sx n="94" d="100"/>
          <a:sy n="94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4859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1397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500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144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141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6608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6300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987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0785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0759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2609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8652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6262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7710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9341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5273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667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COMPUTER </a:t>
            </a: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SCIENCE AND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ENGINEERING</a:t>
            </a:r>
          </a:p>
          <a:p>
            <a:pPr marL="0" lvl="0" indent="0" algn="ctr">
              <a:buSzPts val="3600"/>
              <a:buNone/>
            </a:pPr>
            <a:r>
              <a:rPr lang="en-GB" b="1" dirty="0" smtClean="0">
                <a:latin typeface="Arial Narrow"/>
                <a:ea typeface="Arial Narrow"/>
                <a:cs typeface="Arial Narrow"/>
                <a:sym typeface="Arial Narrow"/>
              </a:rPr>
              <a:t>20CS8504 </a:t>
            </a: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&amp; PROJECT WORK</a:t>
            </a:r>
          </a:p>
          <a:p>
            <a:pPr marL="0" lvl="0" indent="0" algn="ctr">
              <a:buSzPts val="36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Batch No.: 5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Date: 30-03-2026</a:t>
            </a:r>
            <a:endParaRPr lang="en-GB" dirty="0"/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lang="en-GB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16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SEMANTIC AND SIMILARITY-BASED ANSWER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EVALUATION </a:t>
            </a: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SYSTEM USING NLP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85004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 </a:t>
            </a:r>
            <a:endParaRPr lang="en-US" sz="2400" b="1"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Mr. D.P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. Devan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M.E.,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Assistant professor, CSE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811722104078 – KISHORE M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811722104097 – NACHIAPPAN PL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811722104119 – RAKSHANA G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811722104305 – RASEEN RAJA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380750"/>
            <a:ext cx="10515600" cy="478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14350" indent="-514350" algn="just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Manual evaluation of descriptive answer sheets is time-consuming and subjective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514350" indent="-514350" algn="just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Different evaluators may assign different marks for the same answer due to bias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With the growth of AI, Natural Language Processing (NLP) enables understanding the meaning of text rather than exact words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It proposes an automated answer evaluation system that compares student answers with model answers using semantic similarity techniques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indent="-514350" algn="just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system ensures fair, consistent, and faster evaluation of subjective answers.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61549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Automation of descriptive answer evaluation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Reduction of human bias and subjectivity in grading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Semantic comparison between student answers and model answers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  <a:endParaRPr lang="en-GB" dirty="0" smtClean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SzPts val="2800"/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  <a:sym typeface="Arial Narrow"/>
            </a:endParaRPr>
          </a:p>
          <a:p>
            <a:pPr marL="514350" indent="-514350">
              <a:buSzPts val="2800"/>
              <a:buFont typeface="+mj-lt"/>
              <a:buAutoNum type="arabicPeriod"/>
            </a:pPr>
            <a:r>
              <a:rPr lang="en-US" dirty="0" smtClean="0">
                <a:latin typeface="Arial Narrow" panose="020B0606020202030204" pitchFamily="34" charset="0"/>
              </a:rPr>
              <a:t>Fair</a:t>
            </a:r>
            <a:r>
              <a:rPr lang="en-US" dirty="0">
                <a:latin typeface="Arial Narrow" panose="020B0606020202030204" pitchFamily="34" charset="0"/>
              </a:rPr>
              <a:t>, accurate, and consistent mark allocation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</a:endParaRPr>
          </a:p>
          <a:p>
            <a:pPr marL="514350" indent="-514350"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Minimization of time and effort in manual evaluation.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236127026"/>
              </p:ext>
            </p:extLst>
          </p:nvPr>
        </p:nvGraphicFramePr>
        <p:xfrm>
          <a:off x="137680" y="1206392"/>
          <a:ext cx="11985475" cy="4663243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92632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TITLE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Arial Narrow" panose="020B0606020202030204" pitchFamily="34" charset="0"/>
                        </a:rPr>
                        <a:t>AUTHORS</a:t>
                      </a:r>
                      <a:endParaRPr lang="en-US" sz="240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Arial Narrow" panose="020B0606020202030204" pitchFamily="34" charset="0"/>
                        </a:rPr>
                        <a:t>PUBLISHER</a:t>
                      </a:r>
                      <a:endParaRPr lang="en-US" sz="240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TECHNOLOGY USED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Automated Answer Sheet Evaluation Using OCR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B. Santhosh, A.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Sagar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B.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Manikanta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A.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Abhiram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Ch. Mani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Bhargavi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International Journal of Research Publication and Reviews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EasyOCR, </a:t>
                      </a:r>
                      <a:r>
                        <a:rPr lang="en-GB" sz="1600" dirty="0">
                          <a:latin typeface="Arial Narrow" panose="020B0606020202030204" pitchFamily="34" charset="0"/>
                        </a:rPr>
                        <a:t>NLP, Cosine Similarity, 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ASSESS – Automated Subjective Answer Evaluation Using Semantic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Johri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E.,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Dedhia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N., Bohra K.,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Chandak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P.,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Adhikari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ICAST Conference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Semantic Learning, NLP, Similarity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Automated Evaluation of Handwritten Answer Script Using Deep Learning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Rahaman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M.A., Mahmud 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Transactions on Machine Learning and Artificial Intelligence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CNN, Deep Learning, OCR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Towards Automated Evaluation of Handwritten Assessments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Rowtula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V., Oota S.R.,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Jawahar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C.V.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IEEE ICDAR Conference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Document Analysis, OCR, 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Digital Handwritten Answer Sheet Evaluation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Kulkarni M., Adhav G., Wadile K., Chavan R., Deshmukh 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Research Publication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OCR, NLP, Similarity Scoring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780936323"/>
              </p:ext>
            </p:extLst>
          </p:nvPr>
        </p:nvGraphicFramePr>
        <p:xfrm>
          <a:off x="137680" y="1176737"/>
          <a:ext cx="11985475" cy="5007945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2710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TECHNOLOGY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Automated Grading of Student Answers using NLP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Rahul Gupta,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Ankit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Sharma 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International Journal of Computer Applications (2019)</a:t>
                      </a:r>
                      <a:endParaRPr lang="en-IN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NLP, Machine Learning, Feature Extraction, Semantic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Text Similarity Detection using NLP Techniques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Daniel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Cer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Yinfei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 Yang, Sheng-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yi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 Kong</a:t>
                      </a:r>
                    </a:p>
                    <a:p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Google Research / ACL Publication (2018)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Sentence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Deep Learning, Cosine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Attention Is All You Need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Ashish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Vaswani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, Noam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Shazeer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Niki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Parmar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NeurIPS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Conference (2017)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Transformer, Self-Attention, Deep Learning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Semantic Similarity using Word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latin typeface="Arial Narrow" panose="020B0606020202030204" pitchFamily="34" charset="0"/>
                        </a:rPr>
                        <a:t>Tomas Mikolov, Kai Chen, Greg Corrado</a:t>
                      </a:r>
                      <a:endParaRPr lang="pt-BR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IEEE / Google Research (2017)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Word2Vec, Word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Cosine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Descriptive Handwritten Paper Grading System using NLP and Fuzzy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Nandwalkar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B.,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Pardeshi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S.,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Shahade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M.,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Awate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>
                          <a:latin typeface="Arial Narrow" panose="020B0606020202030204" pitchFamily="34" charset="0"/>
                        </a:rPr>
                        <a:t>International Journal of Performability Engineering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NLP, Fuzzy Logic, Feature Extraction, Grading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02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C9BF739-EEAC-B1DC-2F91-98333D12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006" y="884904"/>
            <a:ext cx="3175820" cy="5471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 smtClean="0">
                <a:latin typeface="Arial Narrow" panose="020B0606020202030204" pitchFamily="34" charset="0"/>
              </a:rPr>
              <a:t>PROBLEMS IDENTIFIED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0103"/>
            <a:ext cx="10515600" cy="4351338"/>
          </a:xfrm>
        </p:spPr>
        <p:txBody>
          <a:bodyPr>
            <a:no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Time consumption in manual evaluation</a:t>
            </a:r>
          </a:p>
          <a:p>
            <a:pPr marL="628650" indent="-514350">
              <a:buFont typeface="+mj-lt"/>
              <a:buAutoNum type="arabicPeriod"/>
            </a:pPr>
            <a:endParaRPr lang="en-GB" sz="26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Possibility of errors in grading</a:t>
            </a:r>
          </a:p>
          <a:p>
            <a:pPr marL="628650" indent="-514350">
              <a:buFont typeface="+mj-lt"/>
              <a:buAutoNum type="arabicPeriod"/>
            </a:pPr>
            <a:endParaRPr lang="en-GB" sz="26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Lack of consistency in evaluation</a:t>
            </a:r>
          </a:p>
          <a:p>
            <a:pPr marL="628650" indent="-514350">
              <a:buFont typeface="+mj-lt"/>
              <a:buAutoNum type="arabicPeriod"/>
            </a:pPr>
            <a:endParaRPr lang="en-GB" sz="26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Difficulty in evaluating more number of paper</a:t>
            </a:r>
          </a:p>
          <a:p>
            <a:pPr marL="628650" indent="-514350">
              <a:buFont typeface="+mj-lt"/>
              <a:buAutoNum type="arabicPeriod"/>
            </a:pPr>
            <a:endParaRPr lang="en-GB" sz="2600" dirty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Delay in result publication</a:t>
            </a:r>
          </a:p>
          <a:p>
            <a:pPr marL="628650" indent="-514350">
              <a:buFont typeface="+mj-lt"/>
              <a:buAutoNum type="arabicPeriod"/>
            </a:pPr>
            <a:endParaRPr lang="en-GB" sz="26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600" dirty="0" smtClean="0">
                <a:latin typeface="Arial Narrow" panose="020B0606020202030204" pitchFamily="34" charset="0"/>
              </a:rPr>
              <a:t>Possibility of Human Bias</a:t>
            </a:r>
          </a:p>
          <a:p>
            <a:endParaRPr lang="en-IN" sz="2600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8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0" y="708000"/>
            <a:ext cx="10058400" cy="615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63687" y="2186609"/>
            <a:ext cx="467139" cy="1689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48910" y="2140286"/>
            <a:ext cx="377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UI</a:t>
            </a:r>
            <a:endParaRPr lang="en-US" sz="11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46272" y="1294562"/>
            <a:ext cx="5849728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34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HARDWARE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lang="en-IN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2600" b="1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Processor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: Intel i5 / Ryzen 5 or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above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RAM: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Minimum 8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GB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Hard Disk: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256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GB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System Type: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64-bit Architecture</a:t>
            </a:r>
            <a:endParaRPr lang="en-US" sz="2600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946710" y="1294562"/>
            <a:ext cx="5849728" cy="418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4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3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ctr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ctr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/>
              <a:t> </a:t>
            </a:r>
            <a:r>
              <a:rPr lang="en-IN" sz="2600" b="1" dirty="0">
                <a:latin typeface="Arial Narrow" panose="020B0606020202030204" pitchFamily="34" charset="0"/>
              </a:rPr>
              <a:t>Operating System:</a:t>
            </a:r>
            <a:r>
              <a:rPr lang="en-IN" sz="2600" dirty="0">
                <a:latin typeface="Arial Narrow" panose="020B0606020202030204" pitchFamily="34" charset="0"/>
              </a:rPr>
              <a:t> Windows / Linux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Programming Language:</a:t>
            </a:r>
            <a:r>
              <a:rPr lang="en-IN" sz="2600" dirty="0">
                <a:latin typeface="Arial Narrow" panose="020B0606020202030204" pitchFamily="34" charset="0"/>
              </a:rPr>
              <a:t> Python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Frontend:</a:t>
            </a:r>
            <a:r>
              <a:rPr lang="en-IN" sz="2600" dirty="0">
                <a:latin typeface="Arial Narrow" panose="020B0606020202030204" pitchFamily="34" charset="0"/>
              </a:rPr>
              <a:t> HTML, CSS, JavaScript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Backend:</a:t>
            </a:r>
            <a:r>
              <a:rPr lang="en-IN" sz="2600" dirty="0">
                <a:latin typeface="Arial Narrow" panose="020B0606020202030204" pitchFamily="34" charset="0"/>
              </a:rPr>
              <a:t> Flask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NLP Libraries: </a:t>
            </a:r>
            <a:r>
              <a:rPr lang="en-IN" sz="2600" dirty="0">
                <a:latin typeface="Arial Narrow" panose="020B0606020202030204" pitchFamily="34" charset="0"/>
              </a:rPr>
              <a:t>NLTK, </a:t>
            </a:r>
            <a:r>
              <a:rPr lang="en-IN" sz="2600" dirty="0" err="1">
                <a:latin typeface="Arial Narrow" panose="020B0606020202030204" pitchFamily="34" charset="0"/>
              </a:rPr>
              <a:t>spaCy</a:t>
            </a:r>
            <a:r>
              <a:rPr lang="en-IN" sz="2600" dirty="0">
                <a:latin typeface="Arial Narrow" panose="020B0606020202030204" pitchFamily="34" charset="0"/>
              </a:rPr>
              <a:t>, </a:t>
            </a:r>
            <a:r>
              <a:rPr lang="en-IN" sz="2600" dirty="0" err="1">
                <a:latin typeface="Arial Narrow" panose="020B0606020202030204" pitchFamily="34" charset="0"/>
              </a:rPr>
              <a:t>Scikit</a:t>
            </a:r>
            <a:r>
              <a:rPr lang="en-IN" sz="2600" dirty="0">
                <a:latin typeface="Arial Narrow" panose="020B0606020202030204" pitchFamily="34" charset="0"/>
              </a:rPr>
              <a:t>-learn, Sentence-Transformers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Database:</a:t>
            </a:r>
            <a:r>
              <a:rPr lang="en-IN" sz="2600" dirty="0">
                <a:latin typeface="Arial Narrow" panose="020B0606020202030204" pitchFamily="34" charset="0"/>
              </a:rPr>
              <a:t> MySQL / SQLite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IDE:</a:t>
            </a:r>
            <a:r>
              <a:rPr lang="en-IN" sz="2600" dirty="0">
                <a:latin typeface="Arial Narrow" panose="020B0606020202030204" pitchFamily="34" charset="0"/>
              </a:rPr>
              <a:t> VS Code / PyCharm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62437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967673" y="148712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indent="-514350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User Interface </a:t>
            </a:r>
            <a:r>
              <a:rPr lang="en-IN" dirty="0" smtClean="0">
                <a:latin typeface="Arial Narrow" panose="020B0606020202030204" pitchFamily="34" charset="0"/>
              </a:rPr>
              <a:t>Module</a:t>
            </a:r>
          </a:p>
          <a:p>
            <a:pPr marL="514350" indent="-514350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Text </a:t>
            </a:r>
            <a:r>
              <a:rPr lang="en-IN" dirty="0" smtClean="0">
                <a:latin typeface="Arial Narrow" panose="020B0606020202030204" pitchFamily="34" charset="0"/>
              </a:rPr>
              <a:t>Pre-processing and Representation Module</a:t>
            </a: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Semantic Similarity Evaluation </a:t>
            </a:r>
            <a:r>
              <a:rPr lang="en-IN" dirty="0" smtClean="0">
                <a:latin typeface="Arial Narrow" panose="020B0606020202030204" pitchFamily="34" charset="0"/>
              </a:rPr>
              <a:t>Module</a:t>
            </a: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endParaRPr lang="en-GB" dirty="0" smtClean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 panose="020B0606020202030204" pitchFamily="34" charset="0"/>
              </a:rPr>
              <a:t>Scoring </a:t>
            </a:r>
            <a:r>
              <a:rPr lang="en-US" dirty="0">
                <a:latin typeface="Arial Narrow" panose="020B0606020202030204" pitchFamily="34" charset="0"/>
              </a:rPr>
              <a:t>and </a:t>
            </a:r>
            <a:r>
              <a:rPr lang="en-US" dirty="0" smtClean="0">
                <a:latin typeface="Arial Narrow" panose="020B0606020202030204" pitchFamily="34" charset="0"/>
              </a:rPr>
              <a:t>Feedback Module</a:t>
            </a: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indent="-514350">
              <a:buClrTx/>
              <a:buSzPts val="2800"/>
              <a:buFont typeface="+mj-lt"/>
              <a:buAutoNum type="arabicPeriod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Data Storage and Result Management System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1146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1. USER INTERFACE MODULE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23018" y="1140977"/>
            <a:ext cx="6135149" cy="49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3300" dirty="0">
                <a:latin typeface="Arial Narrow" panose="020B0606020202030204" pitchFamily="34" charset="0"/>
              </a:rPr>
              <a:t>Provides a web-based interface for teachers.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endParaRPr lang="en-GB" sz="33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3300" dirty="0" smtClean="0">
                <a:latin typeface="Arial Narrow" panose="020B0606020202030204" pitchFamily="34" charset="0"/>
              </a:rPr>
              <a:t>Allows </a:t>
            </a:r>
            <a:r>
              <a:rPr lang="en-GB" sz="3300" dirty="0">
                <a:latin typeface="Arial Narrow" panose="020B0606020202030204" pitchFamily="34" charset="0"/>
              </a:rPr>
              <a:t>entry of student details and subject selection.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endParaRPr lang="en-GB" sz="3300" dirty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3300" dirty="0">
                <a:latin typeface="Arial Narrow" panose="020B0606020202030204" pitchFamily="34" charset="0"/>
              </a:rPr>
              <a:t>Enables uploading of student answers and model answer key.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endParaRPr lang="en-GB" sz="3300" dirty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3300" dirty="0">
                <a:latin typeface="Arial Narrow" panose="020B0606020202030204" pitchFamily="34" charset="0"/>
              </a:rPr>
              <a:t>Displays evaluation results in a clear and structured format.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endParaRPr lang="en-GB" sz="3300" dirty="0">
              <a:latin typeface="Arial Narrow" panose="020B0606020202030204" pitchFamily="34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3300" dirty="0">
                <a:latin typeface="Arial Narrow" panose="020B0606020202030204" pitchFamily="34" charset="0"/>
              </a:rPr>
              <a:t>Ensures a simple, user-friendly, and efficient interaction. 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8" t="9268" r="44920" b="5004"/>
          <a:stretch/>
        </p:blipFill>
        <p:spPr>
          <a:xfrm>
            <a:off x="7614605" y="776835"/>
            <a:ext cx="4240227" cy="5524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246" r="82569" b="85863"/>
          <a:stretch/>
        </p:blipFill>
        <p:spPr>
          <a:xfrm>
            <a:off x="7614605" y="776835"/>
            <a:ext cx="1753275" cy="307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427148" y="1336203"/>
            <a:ext cx="7057986" cy="52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Cleans and normalizes input text for accurate processing.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Performs tokenization, </a:t>
            </a:r>
            <a:r>
              <a:rPr lang="en-GB" dirty="0" err="1">
                <a:latin typeface="Arial Narrow" panose="020B0606020202030204" pitchFamily="34" charset="0"/>
              </a:rPr>
              <a:t>stopword</a:t>
            </a:r>
            <a:r>
              <a:rPr lang="en-GB" dirty="0">
                <a:latin typeface="Arial Narrow" panose="020B0606020202030204" pitchFamily="34" charset="0"/>
              </a:rPr>
              <a:t> removal, and stemming.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Converts text into numerical representations using </a:t>
            </a:r>
            <a:r>
              <a:rPr lang="en-GB" dirty="0">
                <a:latin typeface="Arial Narrow" panose="020B0606020202030204" pitchFamily="34" charset="0"/>
              </a:rPr>
              <a:t>TF-IDF.</a:t>
            </a: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 smtClean="0">
                <a:latin typeface="Arial Narrow" panose="020B0606020202030204" pitchFamily="34" charset="0"/>
              </a:rPr>
              <a:t>Extracts </a:t>
            </a:r>
            <a:r>
              <a:rPr lang="en-GB" dirty="0">
                <a:latin typeface="Arial Narrow" panose="020B0606020202030204" pitchFamily="34" charset="0"/>
              </a:rPr>
              <a:t>meaningful features for semantic evaluation.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 smtClean="0">
                <a:latin typeface="Arial Narrow" panose="020B0606020202030204" pitchFamily="34" charset="0"/>
              </a:rPr>
              <a:t>Prepares </a:t>
            </a:r>
            <a:r>
              <a:rPr lang="en-GB" dirty="0">
                <a:latin typeface="Arial Narrow" panose="020B0606020202030204" pitchFamily="34" charset="0"/>
              </a:rPr>
              <a:t>data for similarity computation.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353001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2. TEXT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PRE-PROCESSING AND REPRESENTATION MODULE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7" t="33725" r="25368" b="30233"/>
          <a:stretch/>
        </p:blipFill>
        <p:spPr>
          <a:xfrm>
            <a:off x="7962562" y="720192"/>
            <a:ext cx="3859901" cy="41916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6" t="30416" r="7056" b="34676"/>
          <a:stretch/>
        </p:blipFill>
        <p:spPr>
          <a:xfrm>
            <a:off x="7485134" y="4816813"/>
            <a:ext cx="4717657" cy="16345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325530" y="1184547"/>
            <a:ext cx="6528424" cy="503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Compares student answers with the model answer key.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Uses cosine similarity to measure semantic similarity between answers.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Evaluates the meaning of the text rather than exact word matching.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>
                <a:latin typeface="Arial Narrow" panose="020B0606020202030204" pitchFamily="34" charset="0"/>
              </a:rPr>
              <a:t>Generates similarity scores for each answer.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dirty="0" smtClean="0">
                <a:latin typeface="Arial Narrow" panose="020B0606020202030204" pitchFamily="34" charset="0"/>
              </a:rPr>
              <a:t>Ensures </a:t>
            </a:r>
            <a:r>
              <a:rPr lang="en-GB" dirty="0">
                <a:latin typeface="Arial Narrow" panose="020B0606020202030204" pitchFamily="34" charset="0"/>
              </a:rPr>
              <a:t>accurate and consistent evaluation of responses. </a:t>
            </a:r>
          </a:p>
          <a:p>
            <a:pPr indent="-457200" algn="just">
              <a:spcBef>
                <a:spcPts val="0"/>
              </a:spcBef>
              <a:buSzPts val="2800"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SEMANTIC SIMILARITY EVALUATION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3" t="8664" r="19227" b="7125"/>
          <a:stretch/>
        </p:blipFill>
        <p:spPr>
          <a:xfrm>
            <a:off x="6991519" y="962951"/>
            <a:ext cx="5200481" cy="5251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15731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SCORING AND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FEEDBACK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 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163" y="797139"/>
            <a:ext cx="6137135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Assigns marks based on the computed similarity score.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Calculates total marks and percentage for evaluation.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Classifies answers as correct, partially correct, or incorrect.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Provides feedback highlighting missing or weak concepts.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Displays results in a clear and structured format for easy understanding.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6" t="33339" r="26495" b="6935"/>
          <a:stretch/>
        </p:blipFill>
        <p:spPr>
          <a:xfrm>
            <a:off x="7033327" y="1424198"/>
            <a:ext cx="4830945" cy="49280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15731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DATA STORAGE AND RESULT MANAGEMENT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 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1758" y="771962"/>
            <a:ext cx="5837730" cy="612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GB" sz="2600" dirty="0">
                <a:latin typeface="Arial Narrow" panose="020B0606020202030204" pitchFamily="34" charset="0"/>
              </a:rPr>
              <a:t>Stores evaluation results in a structured format.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GB" sz="1800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sz="2600" dirty="0">
                <a:latin typeface="Arial Narrow" panose="020B0606020202030204" pitchFamily="34" charset="0"/>
              </a:rPr>
              <a:t>Saves student scores, total marks, and percentage.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GB" sz="1800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sz="2600" dirty="0">
                <a:latin typeface="Arial Narrow" panose="020B0606020202030204" pitchFamily="34" charset="0"/>
              </a:rPr>
              <a:t>Maintains question-wise evaluation details.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GB" sz="1800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sz="2600" dirty="0">
                <a:latin typeface="Arial Narrow" panose="020B0606020202030204" pitchFamily="34" charset="0"/>
              </a:rPr>
              <a:t>Generates downloadable reports </a:t>
            </a:r>
            <a:r>
              <a:rPr lang="en-GB" sz="2600" dirty="0" smtClean="0">
                <a:latin typeface="Arial Narrow" panose="020B0606020202030204" pitchFamily="34" charset="0"/>
              </a:rPr>
              <a:t>     </a:t>
            </a:r>
            <a:r>
              <a:rPr lang="en-GB" sz="2600" dirty="0" smtClean="0">
                <a:latin typeface="Arial Narrow" panose="020B0606020202030204" pitchFamily="34" charset="0"/>
              </a:rPr>
              <a:t>(</a:t>
            </a:r>
            <a:r>
              <a:rPr lang="en-GB" sz="2600" dirty="0">
                <a:latin typeface="Arial Narrow" panose="020B0606020202030204" pitchFamily="34" charset="0"/>
              </a:rPr>
              <a:t>Excel format).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endParaRPr lang="en-GB" sz="1800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GB" sz="2600" dirty="0">
                <a:latin typeface="Arial Narrow" panose="020B0606020202030204" pitchFamily="34" charset="0"/>
              </a:rPr>
              <a:t>Enables easy access, analysis, and record management.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1"/>
          <a:stretch/>
        </p:blipFill>
        <p:spPr>
          <a:xfrm>
            <a:off x="6198499" y="1197622"/>
            <a:ext cx="5993501" cy="474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8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651169" y="1399921"/>
            <a:ext cx="10977085" cy="479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The proposed system </a:t>
            </a:r>
            <a:r>
              <a:rPr lang="en-US" dirty="0" smtClean="0">
                <a:latin typeface="Arial Narrow" panose="020B0606020202030204" pitchFamily="34" charset="0"/>
              </a:rPr>
              <a:t>successfully,</a:t>
            </a:r>
          </a:p>
          <a:p>
            <a:pPr marL="0" indent="0" algn="just">
              <a:spcBef>
                <a:spcPts val="0"/>
              </a:spcBef>
              <a:buSzPts val="2800"/>
              <a:buNone/>
            </a:pPr>
            <a:endParaRPr lang="en-US" dirty="0" smtClean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Automates descriptive answer evaluation using NLP.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Ensures fair, consistent, and efficient grading.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pPr lvl="1"/>
            <a:r>
              <a:rPr lang="en-GB" sz="2600" dirty="0" smtClean="0">
                <a:latin typeface="Arial Narrow" panose="020B0606020202030204" pitchFamily="34" charset="0"/>
              </a:rPr>
              <a:t>Uses </a:t>
            </a:r>
            <a:r>
              <a:rPr lang="en-GB" sz="2600" dirty="0">
                <a:latin typeface="Arial Narrow" panose="020B0606020202030204" pitchFamily="34" charset="0"/>
              </a:rPr>
              <a:t>semantic similarity for accurate assessment.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Provides fast results with feedback.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Scalable for future educational applications. </a:t>
            </a:r>
          </a:p>
          <a:p>
            <a:pPr marL="0" indent="0" algn="just">
              <a:spcBef>
                <a:spcPts val="0"/>
              </a:spcBef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Arial Narrow" panose="020B0606020202030204" pitchFamily="34" charset="0"/>
              </a:rPr>
              <a:t>FUTURE ENHANCEMENTS</a:t>
            </a:r>
            <a:endParaRPr lang="en-IN" sz="4000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095" y="1625670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GB" dirty="0" smtClean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36428" y="1416070"/>
            <a:ext cx="494398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lvl="2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Mobile application development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Online exam system integration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Grammar and spelling evaluation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Multi-lingual support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LMS integration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Cloud deployment </a:t>
            </a:r>
          </a:p>
        </p:txBody>
      </p:sp>
    </p:spTree>
    <p:extLst>
      <p:ext uri="{BB962C8B-B14F-4D97-AF65-F5344CB8AC3E}">
        <p14:creationId xmlns:p14="http://schemas.microsoft.com/office/powerpoint/2010/main" val="248553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1012</Words>
  <Application>Microsoft Office PowerPoint</Application>
  <PresentationFormat>Widescreen</PresentationFormat>
  <Paragraphs>227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Calibri</vt:lpstr>
      <vt:lpstr>Times New Roman</vt:lpstr>
      <vt:lpstr>Arial Rounded MT Bold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PROBLEMS IDENTIFIED</vt:lpstr>
      <vt:lpstr>PowerPoint Presentation</vt:lpstr>
      <vt:lpstr>SOFTWARE AND HARDWARE REQUIREMENTS </vt:lpstr>
      <vt:lpstr>MODULES </vt:lpstr>
      <vt:lpstr>1. USER INTERFACE MODULE </vt:lpstr>
      <vt:lpstr>2. TEXT PRE-PROCESSING AND REPRESENTATION MODULE </vt:lpstr>
      <vt:lpstr>3. SEMANTIC SIMILARITY EVALUATION MODULE</vt:lpstr>
      <vt:lpstr>4. SCORING AND FEEDBACK MODULE  </vt:lpstr>
      <vt:lpstr>5. DATA STORAGE AND RESULT MANAGEMENT MODULE  </vt:lpstr>
      <vt:lpstr>CONCLUSION</vt:lpstr>
      <vt:lpstr>FUTURE ENHANCEMENTS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Rakshana Gandhi</cp:lastModifiedBy>
  <cp:revision>42</cp:revision>
  <dcterms:modified xsi:type="dcterms:W3CDTF">2026-03-29T14:53:18Z</dcterms:modified>
</cp:coreProperties>
</file>